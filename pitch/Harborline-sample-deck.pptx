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>
  <p:showPr/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20" Type="http://schemas.openxmlformats.org/officeDocument/2006/relationships/presProps" Target="presProps.xml"/><Relationship Id="rId21" Type="http://schemas.openxmlformats.org/officeDocument/2006/relationships/viewProps" Target="view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Body">
  <p:cSld name="Title and Conten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54"/>
        </a:solidFill>
        <a:effectLst/>
      </p:bgPr>
    </p:bg>
    <p:spTree>
      <p:nvGrpSpPr>
        <p:cNvPr id="1" name="Slid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8A90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713232" y="173736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1" dirty="0" spc="220">
                <a:solidFill>
                  <a:srgbClr val="0E8A90"/>
                </a:solidFill>
                <a:latin typeface="Calibri"/>
                <a:ea typeface="Calibri"/>
                <a:cs typeface="Calibri"/>
              </a:rPr>
              <a:t>SAMPLE PITCH DECK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76656" y="2121408"/>
            <a:ext cx="1042416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Harborline Sensors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713232" y="3383280"/>
            <a:ext cx="877824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2000" b="0" dirty="0">
                <a:solidFill>
                  <a:srgbClr val="D7F0EE"/>
                </a:solidFill>
                <a:latin typeface="Calibri"/>
                <a:ea typeface="Calibri"/>
                <a:cs typeface="Calibri"/>
              </a:rPr>
              <a:t>Sample pitch deck for Ocean Opportunity Radar.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9BD0CB"/>
                </a:solidFill>
                <a:latin typeface="Calibri"/>
                <a:ea typeface="Calibri"/>
                <a:cs typeface="Calibri"/>
              </a:rPr>
              <a:t>This company is fictional. Nothing in these slides is a real fundraising claim.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713232" y="594360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7AA8B0"/>
                </a:solidFill>
                <a:latin typeface="Calibri"/>
                <a:ea typeface="Calibri"/>
                <a:cs typeface="Calibri"/>
              </a:rPr>
              <a:t>Ocean Opportunity Radar    ·    Fictional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A"/>
        </a:solidFill>
        <a:effectLst/>
      </p:bgPr>
    </p:bg>
    <p:spTree>
      <p:nvGrpSpPr>
        <p:cNvPr id="1" name="Slid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8A90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40080" y="34747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1" dirty="0" spc="140">
                <a:solidFill>
                  <a:srgbClr val="0E8A90"/>
                </a:solidFill>
                <a:latin typeface="Calibri"/>
                <a:ea typeface="Calibri"/>
                <a:cs typeface="Calibri"/>
              </a:rPr>
              <a:t>01    PROBLEM</a:t>
            </a:r>
          </a:p>
        </p:txBody>
      </p:sp>
      <p:sp>
        <p:nvSpPr>
          <p:cNvPr id="4" name="Wordmark"/>
          <p:cNvSpPr txBox="1"/>
          <p:nvPr/>
        </p:nvSpPr>
        <p:spPr>
          <a:xfrm>
            <a:off x="7863840" y="34747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00" b="1" dirty="0" spc="16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HARBORLINE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640080" y="6309360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Harborline Sensors    ·    Fictional sample</a:t>
            </a:r>
          </a:p>
        </p:txBody>
      </p:sp>
      <p:sp>
        <p:nvSpPr>
          <p:cNvPr id="21" name="Number"/>
          <p:cNvSpPr txBox="1"/>
          <p:nvPr/>
        </p:nvSpPr>
        <p:spPr>
          <a:xfrm>
            <a:off x="9326880" y="63093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2  /  6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21792" y="7132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Problem</a:t>
            </a:r>
          </a:p>
        </p:txBody>
      </p:sp>
      <p:sp>
        <p:nvSpPr>
          <p:cNvPr id="6" name="Card0"/>
          <p:cNvSpPr/>
          <p:nvPr/>
        </p:nvSpPr>
        <p:spPr>
          <a:xfrm>
            <a:off x="640080" y="1965960"/>
            <a:ext cx="10881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7" name="Accent0"/>
          <p:cNvSpPr/>
          <p:nvPr/>
        </p:nvSpPr>
        <p:spPr>
          <a:xfrm>
            <a:off x="932688" y="231343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0E8A90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8" name="CardText0"/>
          <p:cNvSpPr txBox="1"/>
          <p:nvPr/>
        </p:nvSpPr>
        <p:spPr>
          <a:xfrm>
            <a:off x="1143000" y="1965960"/>
            <a:ext cx="10104120" cy="1737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109728" rIns="320040" bIns="10972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143242"/>
                </a:solidFill>
                <a:latin typeface="Calibri"/>
                <a:ea typeface="Calibri"/>
                <a:cs typeface="Calibri"/>
              </a:rPr>
              <a:t>Small harbours lose berth time because arrival windows are guessed from radio calls.</a:t>
            </a:r>
          </a:p>
        </p:txBody>
      </p:sp>
      <p:sp>
        <p:nvSpPr>
          <p:cNvPr id="9" name="Card1"/>
          <p:cNvSpPr/>
          <p:nvPr/>
        </p:nvSpPr>
        <p:spPr>
          <a:xfrm>
            <a:off x="640080" y="3886200"/>
            <a:ext cx="10881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10" name="Accent1"/>
          <p:cNvSpPr/>
          <p:nvPr/>
        </p:nvSpPr>
        <p:spPr>
          <a:xfrm>
            <a:off x="932688" y="423367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0E8A90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11" name="CardText1"/>
          <p:cNvSpPr txBox="1"/>
          <p:nvPr/>
        </p:nvSpPr>
        <p:spPr>
          <a:xfrm>
            <a:off x="1143000" y="3886200"/>
            <a:ext cx="10104120" cy="1737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109728" rIns="320040" bIns="10972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143242"/>
                </a:solidFill>
                <a:latin typeface="Calibri"/>
                <a:ea typeface="Calibri"/>
                <a:cs typeface="Calibri"/>
              </a:rPr>
              <a:t>A missed window keeps a fishing vessel burning fuel outside the quay.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A"/>
        </a:solidFill>
        <a:effectLst/>
      </p:bgPr>
    </p:bg>
    <p:spTree>
      <p:nvGrpSpPr>
        <p:cNvPr id="1" name="Slid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8A90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40080" y="34747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1" dirty="0" spc="140">
                <a:solidFill>
                  <a:srgbClr val="0E8A90"/>
                </a:solidFill>
                <a:latin typeface="Calibri"/>
                <a:ea typeface="Calibri"/>
                <a:cs typeface="Calibri"/>
              </a:rPr>
              <a:t>02    SOLUTION</a:t>
            </a:r>
          </a:p>
        </p:txBody>
      </p:sp>
      <p:sp>
        <p:nvSpPr>
          <p:cNvPr id="4" name="Wordmark"/>
          <p:cNvSpPr txBox="1"/>
          <p:nvPr/>
        </p:nvSpPr>
        <p:spPr>
          <a:xfrm>
            <a:off x="7863840" y="34747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00" b="1" dirty="0" spc="16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HARBORLINE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640080" y="6309360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Harborline Sensors    ·    Fictional sample</a:t>
            </a:r>
          </a:p>
        </p:txBody>
      </p:sp>
      <p:sp>
        <p:nvSpPr>
          <p:cNvPr id="21" name="Number"/>
          <p:cNvSpPr txBox="1"/>
          <p:nvPr/>
        </p:nvSpPr>
        <p:spPr>
          <a:xfrm>
            <a:off x="9326880" y="63093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3  /  6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21792" y="7132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Solution</a:t>
            </a:r>
          </a:p>
        </p:txBody>
      </p:sp>
      <p:sp>
        <p:nvSpPr>
          <p:cNvPr id="6" name="Card0"/>
          <p:cNvSpPr/>
          <p:nvPr/>
        </p:nvSpPr>
        <p:spPr>
          <a:xfrm>
            <a:off x="640080" y="1965960"/>
            <a:ext cx="10881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7" name="Accent0"/>
          <p:cNvSpPr/>
          <p:nvPr/>
        </p:nvSpPr>
        <p:spPr>
          <a:xfrm>
            <a:off x="932688" y="231343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0E8A90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8" name="CardText0"/>
          <p:cNvSpPr txBox="1"/>
          <p:nvPr/>
        </p:nvSpPr>
        <p:spPr>
          <a:xfrm>
            <a:off x="1143000" y="1965960"/>
            <a:ext cx="10104120" cy="1737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109728" rIns="320040" bIns="10972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143242"/>
                </a:solidFill>
                <a:latin typeface="Calibri"/>
                <a:ea typeface="Calibri"/>
                <a:cs typeface="Calibri"/>
              </a:rPr>
              <a:t>Harborline mounts a solar sensor on the outer buoy.</a:t>
            </a:r>
          </a:p>
        </p:txBody>
      </p:sp>
      <p:sp>
        <p:nvSpPr>
          <p:cNvPr id="9" name="Card1"/>
          <p:cNvSpPr/>
          <p:nvPr/>
        </p:nvSpPr>
        <p:spPr>
          <a:xfrm>
            <a:off x="640080" y="3886200"/>
            <a:ext cx="10881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10" name="Accent1"/>
          <p:cNvSpPr/>
          <p:nvPr/>
        </p:nvSpPr>
        <p:spPr>
          <a:xfrm>
            <a:off x="932688" y="423367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0E8A90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11" name="CardText1"/>
          <p:cNvSpPr txBox="1"/>
          <p:nvPr/>
        </p:nvSpPr>
        <p:spPr>
          <a:xfrm>
            <a:off x="1143000" y="3886200"/>
            <a:ext cx="10104120" cy="1737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109728" rIns="320040" bIns="10972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143242"/>
                </a:solidFill>
                <a:latin typeface="Calibri"/>
                <a:ea typeface="Calibri"/>
                <a:cs typeface="Calibri"/>
              </a:rPr>
              <a:t>The sample product, Buoy Window, sends a four-hour arrival window to the harbour master.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A"/>
        </a:solidFill>
        <a:effectLst/>
      </p:bgPr>
    </p:bg>
    <p:spTree>
      <p:nvGrpSpPr>
        <p:cNvPr id="1" name="Slid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8A90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40080" y="34747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1" dirty="0" spc="140">
                <a:solidFill>
                  <a:srgbClr val="0E8A90"/>
                </a:solidFill>
                <a:latin typeface="Calibri"/>
                <a:ea typeface="Calibri"/>
                <a:cs typeface="Calibri"/>
              </a:rPr>
              <a:t>03    TRACTION</a:t>
            </a:r>
          </a:p>
        </p:txBody>
      </p:sp>
      <p:sp>
        <p:nvSpPr>
          <p:cNvPr id="4" name="Wordmark"/>
          <p:cNvSpPr txBox="1"/>
          <p:nvPr/>
        </p:nvSpPr>
        <p:spPr>
          <a:xfrm>
            <a:off x="7863840" y="34747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00" b="1" dirty="0" spc="16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HARBORLINE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640080" y="6309360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Harborline Sensors    ·    Fictional sample</a:t>
            </a:r>
          </a:p>
        </p:txBody>
      </p:sp>
      <p:sp>
        <p:nvSpPr>
          <p:cNvPr id="21" name="Number"/>
          <p:cNvSpPr txBox="1"/>
          <p:nvPr/>
        </p:nvSpPr>
        <p:spPr>
          <a:xfrm>
            <a:off x="9326880" y="63093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4  /  6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21792" y="7132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Traction</a:t>
            </a:r>
          </a:p>
        </p:txBody>
      </p:sp>
      <p:sp>
        <p:nvSpPr>
          <p:cNvPr id="10" name="Metric0"/>
          <p:cNvSpPr/>
          <p:nvPr/>
        </p:nvSpPr>
        <p:spPr>
          <a:xfrm>
            <a:off x="640080" y="1965960"/>
            <a:ext cx="345643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11" name="MetricText0"/>
          <p:cNvSpPr txBox="1"/>
          <p:nvPr/>
        </p:nvSpPr>
        <p:spPr>
          <a:xfrm>
            <a:off x="640080" y="1965960"/>
            <a:ext cx="3456432" cy="2148840"/>
          </a:xfrm>
          <a:prstGeom prst="rect">
            <a:avLst/>
          </a:prstGeom>
          <a:noFill/>
          <a:ln>
            <a:noFill/>
          </a:ln>
        </p:spPr>
        <p:txBody>
          <a:bodyPr wrap="square" lIns="256032" tIns="182880" rIns="256032" bIns="18288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E8A90"/>
                </a:solidFill>
                <a:latin typeface="Calibri"/>
                <a:ea typeface="Calibri"/>
                <a:cs typeface="Calibri"/>
              </a:rPr>
              <a:t>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Harbour pilots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Finland, 2025</a:t>
            </a:r>
          </a:p>
        </p:txBody>
      </p:sp>
      <p:sp>
        <p:nvSpPr>
          <p:cNvPr id="12" name="Metric1"/>
          <p:cNvSpPr/>
          <p:nvPr/>
        </p:nvSpPr>
        <p:spPr>
          <a:xfrm>
            <a:off x="4297680" y="1965960"/>
            <a:ext cx="345643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13" name="MetricText1"/>
          <p:cNvSpPr txBox="1"/>
          <p:nvPr/>
        </p:nvSpPr>
        <p:spPr>
          <a:xfrm>
            <a:off x="4297680" y="1965960"/>
            <a:ext cx="3456432" cy="2148840"/>
          </a:xfrm>
          <a:prstGeom prst="rect">
            <a:avLst/>
          </a:prstGeom>
          <a:noFill/>
          <a:ln>
            <a:noFill/>
          </a:ln>
        </p:spPr>
        <p:txBody>
          <a:bodyPr wrap="square" lIns="256032" tIns="182880" rIns="256032" bIns="18288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E8A90"/>
                </a:solidFill>
                <a:latin typeface="Calibri"/>
                <a:ea typeface="Calibri"/>
                <a:cs typeface="Calibri"/>
              </a:rPr>
              <a:t>120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Recorded arrivals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Sample figures only</a:t>
            </a:r>
          </a:p>
        </p:txBody>
      </p:sp>
      <p:sp>
        <p:nvSpPr>
          <p:cNvPr id="14" name="Metric2"/>
          <p:cNvSpPr/>
          <p:nvPr/>
        </p:nvSpPr>
        <p:spPr>
          <a:xfrm>
            <a:off x="7955280" y="1965960"/>
            <a:ext cx="345643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15" name="MetricText2"/>
          <p:cNvSpPr txBox="1"/>
          <p:nvPr/>
        </p:nvSpPr>
        <p:spPr>
          <a:xfrm>
            <a:off x="7955280" y="1965960"/>
            <a:ext cx="3456432" cy="2148840"/>
          </a:xfrm>
          <a:prstGeom prst="rect">
            <a:avLst/>
          </a:prstGeom>
          <a:noFill/>
          <a:ln>
            <a:noFill/>
          </a:ln>
        </p:spPr>
        <p:txBody>
          <a:bodyPr wrap="square" lIns="256032" tIns="182880" rIns="256032" bIns="18288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E8A90"/>
                </a:solidFill>
                <a:latin typeface="Calibri"/>
                <a:ea typeface="Calibri"/>
                <a:cs typeface="Calibri"/>
              </a:rPr>
              <a:t>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Letter of intent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Municipal port</a:t>
            </a:r>
          </a:p>
        </p:txBody>
      </p:sp>
      <p:sp>
        <p:nvSpPr>
          <p:cNvPr id="30" name="Notes"/>
          <p:cNvSpPr txBox="1"/>
          <p:nvPr/>
        </p:nvSpPr>
        <p:spPr>
          <a:xfrm>
            <a:off x="640080" y="4343400"/>
            <a:ext cx="1088136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5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Sample figures only: three harbour pilots in Finland during 2025 and 120 recorded arrivals.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5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The deck also states a letter of intent from a municipal port. No revenue is claimed.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A"/>
        </a:solidFill>
        <a:effectLst/>
      </p:bgPr>
    </p:bg>
    <p:spTree>
      <p:nvGrpSpPr>
        <p:cNvPr id="1" name="Slid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8A90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640080" y="34747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1" dirty="0" spc="140">
                <a:solidFill>
                  <a:srgbClr val="0E8A90"/>
                </a:solidFill>
                <a:latin typeface="Calibri"/>
                <a:ea typeface="Calibri"/>
                <a:cs typeface="Calibri"/>
              </a:rPr>
              <a:t>04    TEAM</a:t>
            </a:r>
          </a:p>
        </p:txBody>
      </p:sp>
      <p:sp>
        <p:nvSpPr>
          <p:cNvPr id="4" name="Wordmark"/>
          <p:cNvSpPr txBox="1"/>
          <p:nvPr/>
        </p:nvSpPr>
        <p:spPr>
          <a:xfrm>
            <a:off x="7863840" y="34747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00" b="1" dirty="0" spc="16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HARBORLINE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640080" y="6309360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Harborline Sensors    ·    Fictional sample</a:t>
            </a:r>
          </a:p>
        </p:txBody>
      </p:sp>
      <p:sp>
        <p:nvSpPr>
          <p:cNvPr id="21" name="Number"/>
          <p:cNvSpPr txBox="1"/>
          <p:nvPr/>
        </p:nvSpPr>
        <p:spPr>
          <a:xfrm>
            <a:off x="9326880" y="63093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5  /  6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21792" y="7132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Team</a:t>
            </a:r>
          </a:p>
        </p:txBody>
      </p:sp>
      <p:sp>
        <p:nvSpPr>
          <p:cNvPr id="10" name="Person0"/>
          <p:cNvSpPr/>
          <p:nvPr/>
        </p:nvSpPr>
        <p:spPr>
          <a:xfrm>
            <a:off x="640080" y="2148840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11" name="Avatar0"/>
          <p:cNvSpPr/>
          <p:nvPr/>
        </p:nvSpPr>
        <p:spPr>
          <a:xfrm>
            <a:off x="987552" y="2478024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E8A90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12" name="Initials0"/>
          <p:cNvSpPr txBox="1"/>
          <p:nvPr/>
        </p:nvSpPr>
        <p:spPr>
          <a:xfrm>
            <a:off x="987552" y="2478024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AK</a:t>
            </a:r>
          </a:p>
        </p:txBody>
      </p:sp>
      <p:sp>
        <p:nvSpPr>
          <p:cNvPr id="13" name="Name0"/>
          <p:cNvSpPr txBox="1"/>
          <p:nvPr/>
        </p:nvSpPr>
        <p:spPr>
          <a:xfrm>
            <a:off x="1810512" y="2478024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n-US" sz="2000" b="1" dirty="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Aino Korhonen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0E8A90"/>
                </a:solidFill>
                <a:latin typeface="Calibri"/>
                <a:ea typeface="Calibri"/>
                <a:cs typeface="Calibri"/>
              </a:rPr>
              <a:t>Skipper and product lead</a:t>
            </a:r>
          </a:p>
        </p:txBody>
      </p:sp>
      <p:sp>
        <p:nvSpPr>
          <p:cNvPr id="14" name="Bio0"/>
          <p:cNvSpPr txBox="1"/>
          <p:nvPr/>
        </p:nvSpPr>
        <p:spPr>
          <a:xfrm>
            <a:off x="987552" y="3337560"/>
            <a:ext cx="47091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0" dirty="0">
                <a:solidFill>
                  <a:srgbClr val="143242"/>
                </a:solidFill>
                <a:latin typeface="Calibri"/>
                <a:ea typeface="Calibri"/>
                <a:cs typeface="Calibri"/>
              </a:rPr>
              <a:t>Sample names: Aino Korhonen, skipper and product lead.</a:t>
            </a:r>
          </a:p>
        </p:txBody>
      </p:sp>
      <p:sp>
        <p:nvSpPr>
          <p:cNvPr id="15" name="Person1"/>
          <p:cNvSpPr/>
          <p:nvPr/>
        </p:nvSpPr>
        <p:spPr>
          <a:xfrm>
            <a:off x="6263640" y="2148840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16" name="Avatar1"/>
          <p:cNvSpPr/>
          <p:nvPr/>
        </p:nvSpPr>
        <p:spPr>
          <a:xfrm>
            <a:off x="6611112" y="2478024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E8A90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17" name="Initials1"/>
          <p:cNvSpPr txBox="1"/>
          <p:nvPr/>
        </p:nvSpPr>
        <p:spPr>
          <a:xfrm>
            <a:off x="6611112" y="2478024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</a:t>
            </a:r>
          </a:p>
        </p:txBody>
      </p:sp>
      <p:sp>
        <p:nvSpPr>
          <p:cNvPr id="18" name="Name1"/>
          <p:cNvSpPr txBox="1"/>
          <p:nvPr/>
        </p:nvSpPr>
        <p:spPr>
          <a:xfrm>
            <a:off x="7434072" y="2478024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60"/>
              </a:spcAft>
            </a:pPr>
            <a:r>
              <a:rPr lang="en-US" sz="2000" b="1" dirty="0">
                <a:solidFill>
                  <a:srgbClr val="0B3A54"/>
                </a:solidFill>
                <a:latin typeface="Calibri"/>
                <a:ea typeface="Calibri"/>
                <a:cs typeface="Calibri"/>
              </a:rPr>
              <a:t>Pekka Laine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 dirty="0">
                <a:solidFill>
                  <a:srgbClr val="0E8A90"/>
                </a:solidFill>
                <a:latin typeface="Calibri"/>
                <a:ea typeface="Calibri"/>
                <a:cs typeface="Calibri"/>
              </a:rPr>
              <a:t>Embedded engineer</a:t>
            </a:r>
          </a:p>
        </p:txBody>
      </p:sp>
      <p:sp>
        <p:nvSpPr>
          <p:cNvPr id="19" name="Bio1"/>
          <p:cNvSpPr txBox="1"/>
          <p:nvPr/>
        </p:nvSpPr>
        <p:spPr>
          <a:xfrm>
            <a:off x="6611112" y="3337560"/>
            <a:ext cx="47091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00" b="0" dirty="0">
                <a:solidFill>
                  <a:srgbClr val="143242"/>
                </a:solidFill>
                <a:latin typeface="Calibri"/>
                <a:ea typeface="Calibri"/>
                <a:cs typeface="Calibri"/>
              </a:rPr>
              <a:t>Pekka Laine, embedded engineer. This deck does not include personal emails.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A"/>
        </a:solidFill>
        <a:effectLst/>
      </p:bgPr>
    </p:bg>
    <p:spTree>
      <p:nvGrpSpPr>
        <p:cNvPr id="1" name="Slid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B3A54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3" name="Rai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8A90"/>
          </a:solidFill>
          <a:ln>
            <a:noFill/>
          </a:ln>
        </p:spPr>
        <p:txBody>
          <a:bodyPr wrap="square" lIns="0" tIns="0" rIns="0" bIns="0" rtlCol="0" anchor="t"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30352" y="1554480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1" dirty="0" spc="160">
                <a:solidFill>
                  <a:srgbClr val="0E8A90"/>
                </a:solidFill>
                <a:latin typeface="Calibri"/>
                <a:ea typeface="Calibri"/>
                <a:cs typeface="Calibri"/>
              </a:rPr>
              <a:t>05    THE ASK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1965960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ask</a:t>
            </a:r>
          </a:p>
        </p:txBody>
      </p:sp>
      <p:sp>
        <p:nvSpPr>
          <p:cNvPr id="6" name="Amount"/>
          <p:cNvSpPr txBox="1"/>
          <p:nvPr/>
        </p:nvSpPr>
        <p:spPr>
          <a:xfrm>
            <a:off x="502920" y="278892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€400,000</a:t>
            </a:r>
          </a:p>
        </p:txBody>
      </p:sp>
      <p:sp>
        <p:nvSpPr>
          <p:cNvPr id="7" name="Use"/>
          <p:cNvSpPr txBox="1"/>
          <p:nvPr/>
        </p:nvSpPr>
        <p:spPr>
          <a:xfrm>
            <a:off x="530352" y="379476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0" dirty="0">
                <a:solidFill>
                  <a:srgbClr val="D7F0EE"/>
                </a:solidFill>
                <a:latin typeface="Calibri"/>
                <a:ea typeface="Calibri"/>
                <a:cs typeface="Calibri"/>
              </a:rPr>
              <a:t>Ten buoy units and one winter season.</a:t>
            </a:r>
          </a:p>
        </p:txBody>
      </p:sp>
      <p:sp>
        <p:nvSpPr>
          <p:cNvPr id="8" name="Sentences"/>
          <p:cNvSpPr txBox="1"/>
          <p:nvPr/>
        </p:nvSpPr>
        <p:spPr>
          <a:xfrm>
            <a:off x="6217920" y="1737360"/>
            <a:ext cx="530352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lang="en-US" sz="1800" b="0" dirty="0">
                <a:solidFill>
                  <a:srgbClr val="143242"/>
                </a:solidFill>
                <a:latin typeface="Calibri"/>
                <a:ea typeface="Calibri"/>
                <a:cs typeface="Calibri"/>
              </a:rPr>
              <a:t>Sample ask: 400,000 euro to build ten buoy units and run one winter season.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lang="en-US" sz="1800" b="0" dirty="0">
                <a:solidFill>
                  <a:srgbClr val="143242"/>
                </a:solidFill>
                <a:latin typeface="Calibri"/>
                <a:ea typeface="Calibri"/>
                <a:cs typeface="Calibri"/>
              </a:rPr>
              <a:t>This amount exists only inside the sample deck.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6217920" y="626364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5C7886"/>
                </a:solidFill>
                <a:latin typeface="Calibri"/>
                <a:ea typeface="Calibri"/>
                <a:cs typeface="Calibri"/>
              </a:rPr>
              <a:t>Harborline Sensors    ·    6  /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rborline">
  <a:themeElements>
    <a:clrScheme name="Harborline">
      <a:dk1>
        <a:sysClr val="windowText" lastClr="000000"/>
      </a:dk1>
      <a:lt1>
        <a:sysClr val="window" lastClr="FFFFFF"/>
      </a:lt1>
      <a:dk2>
        <a:srgbClr val="0E3A4D"/>
      </a:dk2>
      <a:lt2>
        <a:srgbClr val="E6F4F4"/>
      </a:lt2>
      <a:accent1>
        <a:srgbClr val="0E8A86"/>
      </a:accent1>
      <a:accent2>
        <a:srgbClr val="1F6F8B"/>
      </a:accent2>
      <a:accent3>
        <a:srgbClr val="F2C14E"/>
      </a:accent3>
      <a:accent4>
        <a:srgbClr val="5C6B73"/>
      </a:accent4>
      <a:accent5>
        <a:srgbClr val="9BD0CB"/>
      </a:accent5>
      <a:accent6>
        <a:srgbClr val="D8E2DC"/>
      </a:accent6>
      <a:hlink>
        <a:srgbClr val="0E8A86"/>
      </a:hlink>
      <a:folHlink>
        <a:srgbClr val="5C6B73"/>
      </a:folHlink>
    </a:clrScheme>
    <a:fontScheme name="Harborlin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Harborlin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6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>
  <dc:title>Harborline Sensors sample pitch deck</dc:title>
  <dc:creator>Ocean Opportunity Radar</dc:creator>
</cp:coreProperties>
</file>