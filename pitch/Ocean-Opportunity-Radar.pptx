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Cover. Replace the one-line pitch, presenter, audience, and date. The logo stays.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Problem. Replace the summary and the three cards. Keep the titles or rewrite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Platform frame. The three questions can stay. Replace each answer underneath.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Product. Paste a screenshot over the dashed frame. Replace the four notes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Close. Replace the vision line, then who it serves, what changes, and the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Ending. Thank the people who stayed, then stop.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gradFill rotWithShape="1">
            <a:gsLst>
              <a:gs pos="0">
                <a:srgbClr val="1AB5B0"/>
              </a:gs>
              <a:gs pos="100000">
                <a:srgbClr val="0A6A7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5989320"/>
            <a:ext cx="8412480" cy="2194560"/>
          </a:xfrm>
          <a:prstGeom prst="ellipse">
            <a:avLst/>
          </a:prstGeom>
          <a:solidFill>
            <a:srgbClr val="1AB5B0">
              <a:alpha val="2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937760" y="6199632"/>
            <a:ext cx="8595360" cy="1828800"/>
          </a:xfrm>
          <a:prstGeom prst="ellipse">
            <a:avLst/>
          </a:prstGeom>
          <a:solidFill>
            <a:srgbClr val="0E8A90">
              <a:alpha val="3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020" y="658368"/>
            <a:ext cx="6537960" cy="273848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570220" y="3913632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0E8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4078224"/>
            <a:ext cx="92659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 spc="280">
                <a:solidFill>
                  <a:srgbClr val="0E8A90"/>
                </a:solidFill>
                <a:latin typeface="Avenir Next"/>
                <a:ea typeface="Avenir Next"/>
                <a:cs typeface="Avenir Next"/>
              </a:rPr>
              <a:t>PITCH DECK</a:t>
            </a:r>
          </a:p>
        </p:txBody>
      </p:sp>
      <p:sp>
        <p:nvSpPr>
          <p:cNvPr id="8" name="One-line pitch"/>
          <p:cNvSpPr txBox="1"/>
          <p:nvPr/>
        </p:nvSpPr>
        <p:spPr>
          <a:xfrm>
            <a:off x="1645920" y="4370832"/>
            <a:ext cx="8900160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5C7886"/>
                </a:solidFill>
                <a:latin typeface="Avenir Next"/>
                <a:ea typeface="Avenir Next"/>
                <a:cs typeface="Avenir Next"/>
              </a:rPr>
              <a:t>Add the one-line pitch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6276" y="5029200"/>
            <a:ext cx="28803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0E8A90"/>
                </a:solidFill>
                <a:latin typeface="Avenir Next"/>
                <a:ea typeface="Avenir Next"/>
                <a:cs typeface="Avenir Next"/>
              </a:rPr>
              <a:t>PRESENTED BY</a:t>
            </a:r>
          </a:p>
        </p:txBody>
      </p:sp>
      <p:sp>
        <p:nvSpPr>
          <p:cNvPr id="10" name="Presented by"/>
          <p:cNvSpPr txBox="1"/>
          <p:nvPr/>
        </p:nvSpPr>
        <p:spPr>
          <a:xfrm>
            <a:off x="1446276" y="5266944"/>
            <a:ext cx="288036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5C7886"/>
                </a:solidFill>
                <a:latin typeface="Avenir Next"/>
                <a:ea typeface="Avenir Next"/>
                <a:cs typeface="Avenir Next"/>
              </a:rPr>
              <a:t>Name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66316" y="5650992"/>
            <a:ext cx="2240280" cy="13716"/>
          </a:xfrm>
          <a:prstGeom prst="rect">
            <a:avLst/>
          </a:prstGeom>
          <a:solidFill>
            <a:srgbClr val="0E8A9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5820" y="5029200"/>
            <a:ext cx="28803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0E8A90"/>
                </a:solidFill>
                <a:latin typeface="Avenir Next"/>
                <a:ea typeface="Avenir Next"/>
                <a:cs typeface="Avenir Next"/>
              </a:rPr>
              <a:t>AUDIENCE</a:t>
            </a:r>
          </a:p>
        </p:txBody>
      </p:sp>
      <p:sp>
        <p:nvSpPr>
          <p:cNvPr id="13" name="Audience"/>
          <p:cNvSpPr txBox="1"/>
          <p:nvPr/>
        </p:nvSpPr>
        <p:spPr>
          <a:xfrm>
            <a:off x="4655820" y="5266944"/>
            <a:ext cx="288036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5C7886"/>
                </a:solidFill>
                <a:latin typeface="Avenir Next"/>
                <a:ea typeface="Avenir Next"/>
                <a:cs typeface="Avenir Next"/>
              </a:rPr>
              <a:t>Who this is for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75860" y="5650992"/>
            <a:ext cx="2240280" cy="13716"/>
          </a:xfrm>
          <a:prstGeom prst="rect">
            <a:avLst/>
          </a:prstGeom>
          <a:solidFill>
            <a:srgbClr val="0E8A9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5364" y="5029200"/>
            <a:ext cx="28803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0E8A90"/>
                </a:solidFill>
                <a:latin typeface="Avenir Next"/>
                <a:ea typeface="Avenir Next"/>
                <a:cs typeface="Avenir Next"/>
              </a:rPr>
              <a:t>DATE</a:t>
            </a:r>
          </a:p>
        </p:txBody>
      </p:sp>
      <p:sp>
        <p:nvSpPr>
          <p:cNvPr id="16" name="Date"/>
          <p:cNvSpPr txBox="1"/>
          <p:nvPr/>
        </p:nvSpPr>
        <p:spPr>
          <a:xfrm>
            <a:off x="7865364" y="5266944"/>
            <a:ext cx="288036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5C7886"/>
                </a:solidFill>
                <a:latin typeface="Avenir Next"/>
                <a:ea typeface="Avenir Next"/>
                <a:cs typeface="Avenir Next"/>
              </a:rPr>
              <a:t>Day, month, year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5404" y="5650992"/>
            <a:ext cx="2240280" cy="13716"/>
          </a:xfrm>
          <a:prstGeom prst="rect">
            <a:avLst/>
          </a:prstGeom>
          <a:solidFill>
            <a:srgbClr val="0E8A9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gradFill rotWithShape="1">
            <a:gsLst>
              <a:gs pos="0">
                <a:srgbClr val="1AB5B0"/>
              </a:gs>
              <a:gs pos="100000">
                <a:srgbClr val="0A6A7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237744"/>
            <a:ext cx="433193" cy="4754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33856" y="18288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80">
                <a:solidFill>
                  <a:srgbClr val="0E8A90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65760"/>
            <a:ext cx="9144000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B3A54"/>
                </a:solidFill>
                <a:latin typeface="Avenir Next"/>
                <a:ea typeface="Avenir Next"/>
                <a:cs typeface="Avenir Next"/>
              </a:rPr>
              <a:t>The problem</a:t>
            </a:r>
          </a:p>
        </p:txBody>
      </p:sp>
      <p:sp>
        <p:nvSpPr>
          <p:cNvPr id="6" name="The problem framing line"/>
          <p:cNvSpPr txBox="1"/>
          <p:nvPr/>
        </p:nvSpPr>
        <p:spPr>
          <a:xfrm>
            <a:off x="1133856" y="804672"/>
            <a:ext cx="105460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5C7886"/>
                </a:solidFill>
                <a:latin typeface="Avenir Next"/>
                <a:ea typeface="Avenir Next"/>
                <a:cs typeface="Avenir Next"/>
              </a:rPr>
              <a:t>Add a line that frames the problem.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152144"/>
            <a:ext cx="11167872" cy="10972"/>
          </a:xfrm>
          <a:prstGeom prst="rect">
            <a:avLst/>
          </a:prstGeom>
          <a:solidFill>
            <a:srgbClr val="D3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roblem summary"/>
          <p:cNvSpPr/>
          <p:nvPr/>
        </p:nvSpPr>
        <p:spPr>
          <a:xfrm>
            <a:off x="512064" y="1353312"/>
            <a:ext cx="11167872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EBE9"/>
            </a:solidFill>
          </a:ln>
          <a:effectLst>
            <a:outerShdw blurRad="430000" dist="70000" dir="2700000" algn="tl" rotWithShape="0">
              <a:srgbClr val="0B3A5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182880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60">
                <a:solidFill>
                  <a:srgbClr val="0E8A90"/>
                </a:solidFill>
                <a:latin typeface="Avenir Next"/>
                <a:ea typeface="Avenir Next"/>
                <a:cs typeface="Avenir Next"/>
              </a:rPr>
              <a:t>THE GAP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800" b="0" i="1">
                <a:solidFill>
                  <a:srgbClr val="5C7886"/>
                </a:solidFill>
                <a:latin typeface="Avenir Next"/>
                <a:ea typeface="Avenir Next"/>
                <a:cs typeface="Avenir Next"/>
              </a:rPr>
              <a:t>Write the problem in two sentences. Who is stuck, and what do they do today?</a:t>
            </a:r>
          </a:p>
        </p:txBody>
      </p:sp>
      <p:sp>
        <p:nvSpPr>
          <p:cNvPr id="9" name="Scattered sources"/>
          <p:cNvSpPr/>
          <p:nvPr/>
        </p:nvSpPr>
        <p:spPr>
          <a:xfrm>
            <a:off x="512064" y="2834640"/>
            <a:ext cx="3600704" cy="3456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BE9"/>
            </a:solidFill>
          </a:ln>
          <a:effectLst>
            <a:outerShdw blurRad="430000" dist="70000" dir="2700000" algn="tl" rotWithShape="0">
              <a:srgbClr val="0B3A5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3035808"/>
            <a:ext cx="329184" cy="329184"/>
          </a:xfrm>
          <a:prstGeom prst="ellipse">
            <a:avLst/>
          </a:prstGeom>
          <a:gradFill rotWithShape="1">
            <a:gsLst>
              <a:gs pos="0">
                <a:srgbClr val="1AB5B0"/>
              </a:gs>
              <a:gs pos="100000">
                <a:srgbClr val="0A6A78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3054096"/>
            <a:ext cx="2796032" cy="365760"/>
          </a:xfrm>
          <a:prstGeom prst="rect">
            <a:avLst/>
          </a:prstGeom>
          <a:noFill/>
        </p:spPr>
        <p:txBody>
          <a:bodyPr wrap="square" l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3A54"/>
                </a:solidFill>
                <a:latin typeface="Avenir Next"/>
                <a:ea typeface="Avenir Next"/>
                <a:cs typeface="Avenir Next"/>
              </a:rPr>
              <a:t>Scattered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657600"/>
            <a:ext cx="3308096" cy="2331720"/>
          </a:xfrm>
          <a:prstGeom prst="rect">
            <a:avLst/>
          </a:prstGeom>
          <a:noFill/>
        </p:spPr>
        <p:txBody>
          <a:bodyPr wrap="square" lIns="73152" rIns="73152" t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5C7886"/>
                </a:solidFill>
                <a:latin typeface="Avenir Next"/>
                <a:ea typeface="Avenir Next"/>
                <a:cs typeface="Avenir Next"/>
              </a:rPr>
              <a:t>What people have to piece together by hand.</a:t>
            </a:r>
          </a:p>
        </p:txBody>
      </p:sp>
      <p:sp>
        <p:nvSpPr>
          <p:cNvPr id="13" name="Slow judgement"/>
          <p:cNvSpPr/>
          <p:nvPr/>
        </p:nvSpPr>
        <p:spPr>
          <a:xfrm>
            <a:off x="4295648" y="2834640"/>
            <a:ext cx="3600704" cy="3456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BE9"/>
            </a:solidFill>
          </a:ln>
          <a:effectLst>
            <a:outerShdw blurRad="430000" dist="70000" dir="2700000" algn="tl" rotWithShape="0">
              <a:srgbClr val="0B3A5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96816" y="3035808"/>
            <a:ext cx="329184" cy="329184"/>
          </a:xfrm>
          <a:prstGeom prst="ellipse">
            <a:avLst/>
          </a:prstGeom>
          <a:gradFill rotWithShape="1">
            <a:gsLst>
              <a:gs pos="0">
                <a:srgbClr val="1AB5B0"/>
              </a:gs>
              <a:gs pos="100000">
                <a:srgbClr val="0A6A78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7440" y="3054096"/>
            <a:ext cx="2796032" cy="365760"/>
          </a:xfrm>
          <a:prstGeom prst="rect">
            <a:avLst/>
          </a:prstGeom>
          <a:noFill/>
        </p:spPr>
        <p:txBody>
          <a:bodyPr wrap="square" l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3A54"/>
                </a:solidFill>
                <a:latin typeface="Avenir Next"/>
                <a:ea typeface="Avenir Next"/>
                <a:cs typeface="Avenir Next"/>
              </a:rPr>
              <a:t>Slow judgement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1952" y="3657600"/>
            <a:ext cx="3308096" cy="2331720"/>
          </a:xfrm>
          <a:prstGeom prst="rect">
            <a:avLst/>
          </a:prstGeom>
          <a:noFill/>
        </p:spPr>
        <p:txBody>
          <a:bodyPr wrap="square" lIns="73152" rIns="73152" t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5C7886"/>
                </a:solidFill>
                <a:latin typeface="Avenir Next"/>
                <a:ea typeface="Avenir Next"/>
                <a:cs typeface="Avenir Next"/>
              </a:rPr>
              <a:t>What takes too long to compare or trust.</a:t>
            </a:r>
          </a:p>
        </p:txBody>
      </p:sp>
      <p:sp>
        <p:nvSpPr>
          <p:cNvPr id="17" name="Harder in the ocean"/>
          <p:cNvSpPr/>
          <p:nvPr/>
        </p:nvSpPr>
        <p:spPr>
          <a:xfrm>
            <a:off x="8079232" y="2834640"/>
            <a:ext cx="3600704" cy="3456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BE9"/>
            </a:solidFill>
          </a:ln>
          <a:effectLst>
            <a:outerShdw blurRad="430000" dist="70000" dir="2700000" algn="tl" rotWithShape="0">
              <a:srgbClr val="0B3A5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80400" y="3035808"/>
            <a:ext cx="329184" cy="329184"/>
          </a:xfrm>
          <a:prstGeom prst="ellipse">
            <a:avLst/>
          </a:prstGeom>
          <a:gradFill rotWithShape="1">
            <a:gsLst>
              <a:gs pos="0">
                <a:srgbClr val="1AB5B0"/>
              </a:gs>
              <a:gs pos="100000">
                <a:srgbClr val="0A6A78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01024" y="3054096"/>
            <a:ext cx="2796032" cy="365760"/>
          </a:xfrm>
          <a:prstGeom prst="rect">
            <a:avLst/>
          </a:prstGeom>
          <a:noFill/>
        </p:spPr>
        <p:txBody>
          <a:bodyPr wrap="square" l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3A54"/>
                </a:solidFill>
                <a:latin typeface="Avenir Next"/>
                <a:ea typeface="Avenir Next"/>
                <a:cs typeface="Avenir Next"/>
              </a:rPr>
              <a:t>Harder in the ocean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5536" y="3657600"/>
            <a:ext cx="3308096" cy="2331720"/>
          </a:xfrm>
          <a:prstGeom prst="rect">
            <a:avLst/>
          </a:prstGeom>
          <a:noFill/>
        </p:spPr>
        <p:txBody>
          <a:bodyPr wrap="square" lIns="73152" rIns="73152" t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5C7886"/>
                </a:solidFill>
                <a:latin typeface="Avenir Next"/>
                <a:ea typeface="Avenir Next"/>
                <a:cs typeface="Avenir Next"/>
              </a:rPr>
              <a:t>Why blue-economy startups are easier to miss.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064" y="6510528"/>
            <a:ext cx="11167872" cy="9144"/>
          </a:xfrm>
          <a:prstGeom prst="rect">
            <a:avLst/>
          </a:prstGeom>
          <a:solidFill>
            <a:srgbClr val="D3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7886"/>
                </a:solidFill>
                <a:latin typeface="Avenir Next"/>
                <a:ea typeface="Avenir Next"/>
                <a:cs typeface="Avenir Next"/>
              </a:rPr>
              <a:t>Ocean Opportunity Radar   ·   A’Pelago  ×  Redstone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91216" y="6547104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 spc="80">
                <a:solidFill>
                  <a:srgbClr val="0E8A90"/>
                </a:solidFill>
                <a:latin typeface="Avenir Next"/>
                <a:ea typeface="Avenir Next"/>
                <a:cs typeface="Avenir Next"/>
              </a:rPr>
              <a:t>02  / 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gradFill rotWithShape="1">
            <a:gsLst>
              <a:gs pos="0">
                <a:srgbClr val="1AB5B0"/>
              </a:gs>
              <a:gs pos="100000">
                <a:srgbClr val="0A6A7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237744"/>
            <a:ext cx="433193" cy="4754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33856" y="18288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80">
                <a:solidFill>
                  <a:srgbClr val="0E8A90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65760"/>
            <a:ext cx="9144000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B3A54"/>
                </a:solidFill>
                <a:latin typeface="Avenir Next"/>
                <a:ea typeface="Avenir Next"/>
                <a:cs typeface="Avenir Next"/>
              </a:rPr>
              <a:t>Three questions</a:t>
            </a:r>
          </a:p>
        </p:txBody>
      </p:sp>
      <p:sp>
        <p:nvSpPr>
          <p:cNvPr id="6" name="Three questions framing line"/>
          <p:cNvSpPr txBox="1"/>
          <p:nvPr/>
        </p:nvSpPr>
        <p:spPr>
          <a:xfrm>
            <a:off x="1133856" y="804672"/>
            <a:ext cx="105460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5C7886"/>
                </a:solidFill>
                <a:latin typeface="Avenir Next"/>
                <a:ea typeface="Avenir Next"/>
                <a:cs typeface="Avenir Next"/>
              </a:rPr>
              <a:t>Add a line on how the platform is organised.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152144"/>
            <a:ext cx="11167872" cy="10972"/>
          </a:xfrm>
          <a:prstGeom prst="rect">
            <a:avLst/>
          </a:prstGeom>
          <a:solidFill>
            <a:srgbClr val="D3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scover"/>
          <p:cNvSpPr/>
          <p:nvPr/>
        </p:nvSpPr>
        <p:spPr>
          <a:xfrm>
            <a:off x="512064" y="1371600"/>
            <a:ext cx="3600704" cy="4919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BE9"/>
            </a:solidFill>
          </a:ln>
          <a:effectLst>
            <a:outerShdw blurRad="430000" dist="70000" dir="2700000" algn="tl" rotWithShape="0">
              <a:srgbClr val="0B3A5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1591056"/>
            <a:ext cx="329184" cy="329184"/>
          </a:xfrm>
          <a:prstGeom prst="ellipse">
            <a:avLst/>
          </a:prstGeom>
          <a:gradFill rotWithShape="1">
            <a:gsLst>
              <a:gs pos="0">
                <a:srgbClr val="1AB5B0"/>
              </a:gs>
              <a:gs pos="100000">
                <a:srgbClr val="0A6A78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1645920"/>
            <a:ext cx="2759456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B3A54"/>
                </a:solidFill>
                <a:latin typeface="Avenir Next"/>
                <a:ea typeface="Avenir Next"/>
                <a:cs typeface="Avenir Next"/>
              </a:rPr>
              <a:t>Discover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194560"/>
            <a:ext cx="3308096" cy="1143000"/>
          </a:xfrm>
          <a:prstGeom prst="rect">
            <a:avLst/>
          </a:prstGeom>
          <a:noFill/>
        </p:spPr>
        <p:txBody>
          <a:bodyPr wrap="square" t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43242"/>
                </a:solidFill>
                <a:latin typeface="Avenir Next"/>
                <a:ea typeface="Avenir Next"/>
                <a:cs typeface="Avenir Next"/>
              </a:rPr>
              <a:t>Which startups deserve our attention?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" y="3401568"/>
            <a:ext cx="640080" cy="22860"/>
          </a:xfrm>
          <a:prstGeom prst="rect">
            <a:avLst/>
          </a:prstGeom>
          <a:solidFill>
            <a:srgbClr val="0E8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iscover answer"/>
          <p:cNvSpPr txBox="1"/>
          <p:nvPr/>
        </p:nvSpPr>
        <p:spPr>
          <a:xfrm>
            <a:off x="658368" y="3611880"/>
            <a:ext cx="3308096" cy="2377440"/>
          </a:xfrm>
          <a:prstGeom prst="rect">
            <a:avLst/>
          </a:prstGeom>
          <a:noFill/>
        </p:spPr>
        <p:txBody>
          <a:bodyPr wrap="square" t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5C7886"/>
                </a:solidFill>
                <a:latin typeface="Avenir Next"/>
                <a:ea typeface="Avenir Next"/>
                <a:cs typeface="Avenir Next"/>
              </a:rPr>
              <a:t>Write how the product answers this.</a:t>
            </a:r>
          </a:p>
        </p:txBody>
      </p:sp>
      <p:sp>
        <p:nvSpPr>
          <p:cNvPr id="14" name="Evaluate"/>
          <p:cNvSpPr/>
          <p:nvPr/>
        </p:nvSpPr>
        <p:spPr>
          <a:xfrm>
            <a:off x="4295648" y="1371600"/>
            <a:ext cx="3600704" cy="4919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BE9"/>
            </a:solidFill>
          </a:ln>
          <a:effectLst>
            <a:outerShdw blurRad="430000" dist="70000" dir="2700000" algn="tl" rotWithShape="0">
              <a:srgbClr val="0B3A5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15104" y="1591056"/>
            <a:ext cx="329184" cy="329184"/>
          </a:xfrm>
          <a:prstGeom prst="ellipse">
            <a:avLst/>
          </a:prstGeom>
          <a:gradFill rotWithShape="1">
            <a:gsLst>
              <a:gs pos="0">
                <a:srgbClr val="1AB5B0"/>
              </a:gs>
              <a:gs pos="100000">
                <a:srgbClr val="0A6A78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5728" y="1645920"/>
            <a:ext cx="2759456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B3A54"/>
                </a:solidFill>
                <a:latin typeface="Avenir Next"/>
                <a:ea typeface="Avenir Next"/>
                <a:cs typeface="Avenir Next"/>
              </a:rPr>
              <a:t>Evaluate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1952" y="2194560"/>
            <a:ext cx="3308096" cy="1143000"/>
          </a:xfrm>
          <a:prstGeom prst="rect">
            <a:avLst/>
          </a:prstGeom>
          <a:noFill/>
        </p:spPr>
        <p:txBody>
          <a:bodyPr wrap="square" t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43242"/>
                </a:solidFill>
                <a:latin typeface="Avenir Next"/>
                <a:ea typeface="Avenir Next"/>
                <a:cs typeface="Avenir Next"/>
              </a:rPr>
              <a:t>Why are they promising, and what risks remain?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51680" y="3401568"/>
            <a:ext cx="640080" cy="22860"/>
          </a:xfrm>
          <a:prstGeom prst="rect">
            <a:avLst/>
          </a:prstGeom>
          <a:solidFill>
            <a:srgbClr val="0E8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valuate answer"/>
          <p:cNvSpPr txBox="1"/>
          <p:nvPr/>
        </p:nvSpPr>
        <p:spPr>
          <a:xfrm>
            <a:off x="4441952" y="3611880"/>
            <a:ext cx="3308096" cy="2377440"/>
          </a:xfrm>
          <a:prstGeom prst="rect">
            <a:avLst/>
          </a:prstGeom>
          <a:noFill/>
        </p:spPr>
        <p:txBody>
          <a:bodyPr wrap="square" t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5C7886"/>
                </a:solidFill>
                <a:latin typeface="Avenir Next"/>
                <a:ea typeface="Avenir Next"/>
                <a:cs typeface="Avenir Next"/>
              </a:rPr>
              <a:t>Write how the product answers this.</a:t>
            </a:r>
          </a:p>
        </p:txBody>
      </p:sp>
      <p:sp>
        <p:nvSpPr>
          <p:cNvPr id="20" name="Act"/>
          <p:cNvSpPr/>
          <p:nvPr/>
        </p:nvSpPr>
        <p:spPr>
          <a:xfrm>
            <a:off x="8079232" y="1371600"/>
            <a:ext cx="3600704" cy="4919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BE9"/>
            </a:solidFill>
          </a:ln>
          <a:effectLst>
            <a:outerShdw blurRad="430000" dist="70000" dir="2700000" algn="tl" rotWithShape="0">
              <a:srgbClr val="0B3A5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98688" y="1591056"/>
            <a:ext cx="329184" cy="329184"/>
          </a:xfrm>
          <a:prstGeom prst="ellipse">
            <a:avLst/>
          </a:prstGeom>
          <a:gradFill rotWithShape="1">
            <a:gsLst>
              <a:gs pos="0">
                <a:srgbClr val="1AB5B0"/>
              </a:gs>
              <a:gs pos="100000">
                <a:srgbClr val="0A6A78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9312" y="1645920"/>
            <a:ext cx="2759456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B3A54"/>
                </a:solidFill>
                <a:latin typeface="Avenir Next"/>
                <a:ea typeface="Avenir Next"/>
                <a:cs typeface="Avenir Next"/>
              </a:rPr>
              <a:t>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5536" y="2194560"/>
            <a:ext cx="3308096" cy="1143000"/>
          </a:xfrm>
          <a:prstGeom prst="rect">
            <a:avLst/>
          </a:prstGeom>
          <a:noFill/>
        </p:spPr>
        <p:txBody>
          <a:bodyPr wrap="square" t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43242"/>
                </a:solidFill>
                <a:latin typeface="Avenir Next"/>
                <a:ea typeface="Avenir Next"/>
                <a:cs typeface="Avenir Next"/>
              </a:rPr>
              <a:t>Which funding, investors, or partners could help them grow?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35264" y="3401568"/>
            <a:ext cx="640080" cy="22860"/>
          </a:xfrm>
          <a:prstGeom prst="rect">
            <a:avLst/>
          </a:prstGeom>
          <a:solidFill>
            <a:srgbClr val="0E8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ct answer"/>
          <p:cNvSpPr txBox="1"/>
          <p:nvPr/>
        </p:nvSpPr>
        <p:spPr>
          <a:xfrm>
            <a:off x="8225536" y="3611880"/>
            <a:ext cx="3308096" cy="2377440"/>
          </a:xfrm>
          <a:prstGeom prst="rect">
            <a:avLst/>
          </a:prstGeom>
          <a:noFill/>
        </p:spPr>
        <p:txBody>
          <a:bodyPr wrap="square" t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5C7886"/>
                </a:solidFill>
                <a:latin typeface="Avenir Next"/>
                <a:ea typeface="Avenir Next"/>
                <a:cs typeface="Avenir Next"/>
              </a:rPr>
              <a:t>Write how the product answers this.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2064" y="6510528"/>
            <a:ext cx="11167872" cy="9144"/>
          </a:xfrm>
          <a:prstGeom prst="rect">
            <a:avLst/>
          </a:prstGeom>
          <a:solidFill>
            <a:srgbClr val="D3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7886"/>
                </a:solidFill>
                <a:latin typeface="Avenir Next"/>
                <a:ea typeface="Avenir Next"/>
                <a:cs typeface="Avenir Next"/>
              </a:rPr>
              <a:t>Ocean Opportunity Radar   ·   A’Pelago  ×  Redstone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91216" y="6547104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 spc="80">
                <a:solidFill>
                  <a:srgbClr val="0E8A90"/>
                </a:solidFill>
                <a:latin typeface="Avenir Next"/>
                <a:ea typeface="Avenir Next"/>
                <a:cs typeface="Avenir Next"/>
              </a:rPr>
              <a:t>03  / 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gradFill rotWithShape="1">
            <a:gsLst>
              <a:gs pos="0">
                <a:srgbClr val="1AB5B0"/>
              </a:gs>
              <a:gs pos="100000">
                <a:srgbClr val="0A6A7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237744"/>
            <a:ext cx="433193" cy="4754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33856" y="18288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80">
                <a:solidFill>
                  <a:srgbClr val="0E8A90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65760"/>
            <a:ext cx="9144000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B3A54"/>
                </a:solidFill>
                <a:latin typeface="Avenir Next"/>
                <a:ea typeface="Avenir Next"/>
                <a:cs typeface="Avenir Next"/>
              </a:rPr>
              <a:t>The product</a:t>
            </a:r>
          </a:p>
        </p:txBody>
      </p:sp>
      <p:sp>
        <p:nvSpPr>
          <p:cNvPr id="6" name="The product framing line"/>
          <p:cNvSpPr txBox="1"/>
          <p:nvPr/>
        </p:nvSpPr>
        <p:spPr>
          <a:xfrm>
            <a:off x="1133856" y="804672"/>
            <a:ext cx="105460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5C7886"/>
                </a:solidFill>
                <a:latin typeface="Avenir Next"/>
                <a:ea typeface="Avenir Next"/>
                <a:cs typeface="Avenir Next"/>
              </a:rPr>
              <a:t>Add a line on what someone does in the product.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152144"/>
            <a:ext cx="11167872" cy="10972"/>
          </a:xfrm>
          <a:prstGeom prst="rect">
            <a:avLst/>
          </a:prstGeom>
          <a:solidFill>
            <a:srgbClr val="D3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roduct visual"/>
          <p:cNvSpPr/>
          <p:nvPr/>
        </p:nvSpPr>
        <p:spPr>
          <a:xfrm>
            <a:off x="512064" y="1371600"/>
            <a:ext cx="6720840" cy="4919472"/>
          </a:xfrm>
          <a:prstGeom prst="roundRect">
            <a:avLst>
              <a:gd name="adj" fmla="val 6000"/>
            </a:avLst>
          </a:prstGeom>
          <a:solidFill>
            <a:srgbClr val="E7F6F4"/>
          </a:solidFill>
          <a:ln w="15875">
            <a:solidFill>
              <a:srgbClr val="0E8A9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3063240"/>
            <a:ext cx="598932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 spc="180">
                <a:solidFill>
                  <a:srgbClr val="0E8A90"/>
                </a:solidFill>
                <a:latin typeface="Avenir Next"/>
                <a:ea typeface="Avenir Next"/>
                <a:cs typeface="Avenir Next"/>
              </a:rPr>
              <a:t>PRODUCT VISUAL</a:t>
            </a:r>
          </a:p>
          <a:p>
            <a:pPr algn="ctr">
              <a:spcBef>
                <a:spcPts val="800"/>
              </a:spcBef>
              <a:spcAft>
                <a:spcPts val="0"/>
              </a:spcAft>
            </a:pPr>
            <a:r>
              <a:rPr sz="1800" b="0" i="1">
                <a:solidFill>
                  <a:srgbClr val="5C7886"/>
                </a:solidFill>
                <a:latin typeface="Avenir Next"/>
                <a:ea typeface="Avenir Next"/>
                <a:cs typeface="Avenir Next"/>
              </a:rPr>
              <a:t>Drop a screenshot here</a:t>
            </a:r>
          </a:p>
        </p:txBody>
      </p:sp>
      <p:sp>
        <p:nvSpPr>
          <p:cNvPr id="10" name="What it does"/>
          <p:cNvSpPr/>
          <p:nvPr/>
        </p:nvSpPr>
        <p:spPr>
          <a:xfrm>
            <a:off x="7415783" y="1371600"/>
            <a:ext cx="4264152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EBE9"/>
            </a:solidFill>
          </a:ln>
          <a:effectLst>
            <a:outerShdw blurRad="430000" dist="70000" dir="2700000" algn="tl" rotWithShape="0">
              <a:srgbClr val="0B3A5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62088" y="1499616"/>
            <a:ext cx="3971544" cy="256032"/>
          </a:xfrm>
          <a:prstGeom prst="rect">
            <a:avLst/>
          </a:prstGeom>
          <a:noFill/>
        </p:spPr>
        <p:txBody>
          <a:bodyPr wrap="square" lIns="54864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0E8A90"/>
                </a:solidFill>
                <a:latin typeface="Avenir Next"/>
                <a:ea typeface="Avenir Next"/>
                <a:cs typeface="Avenir Next"/>
              </a:rPr>
              <a:t>WHAT IT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62088" y="1792224"/>
            <a:ext cx="3971544" cy="585216"/>
          </a:xfrm>
          <a:prstGeom prst="rect">
            <a:avLst/>
          </a:prstGeom>
          <a:noFill/>
        </p:spPr>
        <p:txBody>
          <a:bodyPr wrap="square" lIns="54864" rIns="36576" t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5C7886"/>
                </a:solidFill>
                <a:latin typeface="Avenir Next"/>
                <a:ea typeface="Avenir Next"/>
                <a:cs typeface="Avenir Next"/>
              </a:rPr>
              <a:t>One sentence on the job it performs.</a:t>
            </a:r>
          </a:p>
        </p:txBody>
      </p:sp>
      <p:sp>
        <p:nvSpPr>
          <p:cNvPr id="13" name="Who uses it"/>
          <p:cNvSpPr/>
          <p:nvPr/>
        </p:nvSpPr>
        <p:spPr>
          <a:xfrm>
            <a:off x="7415783" y="2633472"/>
            <a:ext cx="4264152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EBE9"/>
            </a:solidFill>
          </a:ln>
          <a:effectLst>
            <a:outerShdw blurRad="430000" dist="70000" dir="2700000" algn="tl" rotWithShape="0">
              <a:srgbClr val="0B3A5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2761488"/>
            <a:ext cx="3971544" cy="256032"/>
          </a:xfrm>
          <a:prstGeom prst="rect">
            <a:avLst/>
          </a:prstGeom>
          <a:noFill/>
        </p:spPr>
        <p:txBody>
          <a:bodyPr wrap="square" lIns="54864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0E8A90"/>
                </a:solidFill>
                <a:latin typeface="Avenir Next"/>
                <a:ea typeface="Avenir Next"/>
                <a:cs typeface="Avenir Next"/>
              </a:rPr>
              <a:t>WHO USES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62088" y="3054096"/>
            <a:ext cx="3971544" cy="585216"/>
          </a:xfrm>
          <a:prstGeom prst="rect">
            <a:avLst/>
          </a:prstGeom>
          <a:noFill/>
        </p:spPr>
        <p:txBody>
          <a:bodyPr wrap="square" lIns="54864" rIns="36576" t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5C7886"/>
                </a:solidFill>
                <a:latin typeface="Avenir Next"/>
                <a:ea typeface="Avenir Next"/>
                <a:cs typeface="Avenir Next"/>
              </a:rPr>
              <a:t>The person and the moment they open it.</a:t>
            </a:r>
          </a:p>
        </p:txBody>
      </p:sp>
      <p:sp>
        <p:nvSpPr>
          <p:cNvPr id="16" name="What they see"/>
          <p:cNvSpPr/>
          <p:nvPr/>
        </p:nvSpPr>
        <p:spPr>
          <a:xfrm>
            <a:off x="7415783" y="3895344"/>
            <a:ext cx="4264152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EBE9"/>
            </a:solidFill>
          </a:ln>
          <a:effectLst>
            <a:outerShdw blurRad="430000" dist="70000" dir="2700000" algn="tl" rotWithShape="0">
              <a:srgbClr val="0B3A5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62088" y="4023359"/>
            <a:ext cx="3971544" cy="256032"/>
          </a:xfrm>
          <a:prstGeom prst="rect">
            <a:avLst/>
          </a:prstGeom>
          <a:noFill/>
        </p:spPr>
        <p:txBody>
          <a:bodyPr wrap="square" lIns="54864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0E8A90"/>
                </a:solidFill>
                <a:latin typeface="Avenir Next"/>
                <a:ea typeface="Avenir Next"/>
                <a:cs typeface="Avenir Next"/>
              </a:rPr>
              <a:t>WHAT THEY SEE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2088" y="4315968"/>
            <a:ext cx="3971544" cy="585216"/>
          </a:xfrm>
          <a:prstGeom prst="rect">
            <a:avLst/>
          </a:prstGeom>
          <a:noFill/>
        </p:spPr>
        <p:txBody>
          <a:bodyPr wrap="square" lIns="54864" rIns="36576" t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5C7886"/>
                </a:solidFill>
                <a:latin typeface="Avenir Next"/>
                <a:ea typeface="Avenir Next"/>
                <a:cs typeface="Avenir Next"/>
              </a:rPr>
              <a:t>The decision the screen makes obvious.</a:t>
            </a:r>
          </a:p>
        </p:txBody>
      </p:sp>
      <p:sp>
        <p:nvSpPr>
          <p:cNvPr id="19" name="What happens next"/>
          <p:cNvSpPr/>
          <p:nvPr/>
        </p:nvSpPr>
        <p:spPr>
          <a:xfrm>
            <a:off x="7415783" y="5157216"/>
            <a:ext cx="4264152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EBE9"/>
            </a:solidFill>
          </a:ln>
          <a:effectLst>
            <a:outerShdw blurRad="430000" dist="70000" dir="2700000" algn="tl" rotWithShape="0">
              <a:srgbClr val="0B3A5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62088" y="5285231"/>
            <a:ext cx="3971544" cy="256032"/>
          </a:xfrm>
          <a:prstGeom prst="rect">
            <a:avLst/>
          </a:prstGeom>
          <a:noFill/>
        </p:spPr>
        <p:txBody>
          <a:bodyPr wrap="square" lIns="54864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0E8A90"/>
                </a:solidFill>
                <a:latin typeface="Avenir Next"/>
                <a:ea typeface="Avenir Next"/>
                <a:cs typeface="Avenir Next"/>
              </a:rPr>
              <a:t>WHAT HAPPENS NEXT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62088" y="5577840"/>
            <a:ext cx="3971544" cy="585216"/>
          </a:xfrm>
          <a:prstGeom prst="rect">
            <a:avLst/>
          </a:prstGeom>
          <a:noFill/>
        </p:spPr>
        <p:txBody>
          <a:bodyPr wrap="square" lIns="54864" rIns="36576" t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5C7886"/>
                </a:solidFill>
                <a:latin typeface="Avenir Next"/>
                <a:ea typeface="Avenir Next"/>
                <a:cs typeface="Avenir Next"/>
              </a:rPr>
              <a:t>The action it helps them take.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" y="6510528"/>
            <a:ext cx="11167872" cy="9144"/>
          </a:xfrm>
          <a:prstGeom prst="rect">
            <a:avLst/>
          </a:prstGeom>
          <a:solidFill>
            <a:srgbClr val="D3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7886"/>
                </a:solidFill>
                <a:latin typeface="Avenir Next"/>
                <a:ea typeface="Avenir Next"/>
                <a:cs typeface="Avenir Next"/>
              </a:rPr>
              <a:t>Ocean Opportunity Radar   ·   A’Pelago  ×  Redstone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91216" y="6547104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 spc="80">
                <a:solidFill>
                  <a:srgbClr val="0E8A90"/>
                </a:solidFill>
                <a:latin typeface="Avenir Next"/>
                <a:ea typeface="Avenir Next"/>
                <a:cs typeface="Avenir Next"/>
              </a:rPr>
              <a:t>04  / 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gradFill rotWithShape="1">
            <a:gsLst>
              <a:gs pos="0">
                <a:srgbClr val="1AB5B0"/>
              </a:gs>
              <a:gs pos="100000">
                <a:srgbClr val="0A6A7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237744"/>
            <a:ext cx="433193" cy="4754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33856" y="18288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80">
                <a:solidFill>
                  <a:srgbClr val="0E8A90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65760"/>
            <a:ext cx="9144000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B3A54"/>
                </a:solidFill>
                <a:latin typeface="Avenir Next"/>
                <a:ea typeface="Avenir Next"/>
                <a:cs typeface="Avenir Next"/>
              </a:rPr>
              <a:t>The vision</a:t>
            </a:r>
          </a:p>
        </p:txBody>
      </p:sp>
      <p:sp>
        <p:nvSpPr>
          <p:cNvPr id="6" name="The vision framing line"/>
          <p:cNvSpPr txBox="1"/>
          <p:nvPr/>
        </p:nvSpPr>
        <p:spPr>
          <a:xfrm>
            <a:off x="1133856" y="804672"/>
            <a:ext cx="105460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5C7886"/>
                </a:solidFill>
                <a:latin typeface="Avenir Next"/>
                <a:ea typeface="Avenir Next"/>
                <a:cs typeface="Avenir Next"/>
              </a:rPr>
              <a:t>Add a line that sets up the close.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152144"/>
            <a:ext cx="11167872" cy="10972"/>
          </a:xfrm>
          <a:prstGeom prst="rect">
            <a:avLst/>
          </a:prstGeom>
          <a:solidFill>
            <a:srgbClr val="D3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Vision statement"/>
          <p:cNvSpPr/>
          <p:nvPr/>
        </p:nvSpPr>
        <p:spPr>
          <a:xfrm>
            <a:off x="512064" y="1371600"/>
            <a:ext cx="11167872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EBE9"/>
            </a:solidFill>
          </a:ln>
          <a:effectLst>
            <a:outerShdw blurRad="430000" dist="70000" dir="2700000" algn="tl" rotWithShape="0">
              <a:srgbClr val="0B3A5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8096" y="1591056"/>
            <a:ext cx="64008" cy="14264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AB5B0"/>
              </a:gs>
              <a:gs pos="100000">
                <a:srgbClr val="0A6A78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536192"/>
            <a:ext cx="10436352" cy="1554480"/>
          </a:xfrm>
          <a:prstGeom prst="rect">
            <a:avLst/>
          </a:prstGeom>
          <a:noFill/>
        </p:spPr>
        <p:txBody>
          <a:bodyPr wrap="square" lIns="73152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60">
                <a:solidFill>
                  <a:srgbClr val="0E8A90"/>
                </a:solidFill>
                <a:latin typeface="Avenir Next"/>
                <a:ea typeface="Avenir Next"/>
                <a:cs typeface="Avenir Next"/>
              </a:rPr>
              <a:t>CLOSING LINE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2200" b="0" i="1">
                <a:solidFill>
                  <a:srgbClr val="5C7886"/>
                </a:solidFill>
                <a:latin typeface="Avenir Next"/>
                <a:ea typeface="Avenir Next"/>
                <a:cs typeface="Avenir Next"/>
              </a:rPr>
              <a:t>Write the vision in one or two sentences.</a:t>
            </a:r>
          </a:p>
        </p:txBody>
      </p:sp>
      <p:sp>
        <p:nvSpPr>
          <p:cNvPr id="11" name="Who it serves"/>
          <p:cNvSpPr/>
          <p:nvPr/>
        </p:nvSpPr>
        <p:spPr>
          <a:xfrm>
            <a:off x="512064" y="3429000"/>
            <a:ext cx="3600704" cy="28620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BE9"/>
            </a:solidFill>
          </a:ln>
          <a:effectLst>
            <a:outerShdw blurRad="430000" dist="70000" dir="2700000" algn="tl" rotWithShape="0">
              <a:srgbClr val="0B3A5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621024"/>
            <a:ext cx="3308096" cy="365760"/>
          </a:xfrm>
          <a:prstGeom prst="rect">
            <a:avLst/>
          </a:prstGeom>
          <a:noFill/>
        </p:spPr>
        <p:txBody>
          <a:bodyPr wrap="square" lIns="73152" rIns="54864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3A54"/>
                </a:solidFill>
                <a:latin typeface="Avenir Next"/>
                <a:ea typeface="Avenir Next"/>
                <a:cs typeface="Avenir Next"/>
              </a:rPr>
              <a:t>Who it serves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078224"/>
            <a:ext cx="3308096" cy="1965960"/>
          </a:xfrm>
          <a:prstGeom prst="rect">
            <a:avLst/>
          </a:prstGeom>
          <a:noFill/>
        </p:spPr>
        <p:txBody>
          <a:bodyPr wrap="square" lIns="73152" rIns="54864" t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5C7886"/>
                </a:solidFill>
                <a:latin typeface="Avenir Next"/>
                <a:ea typeface="Avenir Next"/>
                <a:cs typeface="Avenir Next"/>
              </a:rPr>
              <a:t>Funds, accelerators, or partners — name them.</a:t>
            </a:r>
          </a:p>
        </p:txBody>
      </p:sp>
      <p:sp>
        <p:nvSpPr>
          <p:cNvPr id="14" name="What changes"/>
          <p:cNvSpPr/>
          <p:nvPr/>
        </p:nvSpPr>
        <p:spPr>
          <a:xfrm>
            <a:off x="4295648" y="3429000"/>
            <a:ext cx="3600704" cy="28620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BE9"/>
            </a:solidFill>
          </a:ln>
          <a:effectLst>
            <a:outerShdw blurRad="430000" dist="70000" dir="2700000" algn="tl" rotWithShape="0">
              <a:srgbClr val="0B3A5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41952" y="3621024"/>
            <a:ext cx="3308096" cy="365760"/>
          </a:xfrm>
          <a:prstGeom prst="rect">
            <a:avLst/>
          </a:prstGeom>
          <a:noFill/>
        </p:spPr>
        <p:txBody>
          <a:bodyPr wrap="square" lIns="73152" rIns="54864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3A54"/>
                </a:solidFill>
                <a:latin typeface="Avenir Next"/>
                <a:ea typeface="Avenir Next"/>
                <a:cs typeface="Avenir Next"/>
              </a:rPr>
              <a:t>What changes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1952" y="4078224"/>
            <a:ext cx="3308096" cy="1965960"/>
          </a:xfrm>
          <a:prstGeom prst="rect">
            <a:avLst/>
          </a:prstGeom>
          <a:noFill/>
        </p:spPr>
        <p:txBody>
          <a:bodyPr wrap="square" lIns="73152" rIns="54864" t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5C7886"/>
                </a:solidFill>
                <a:latin typeface="Avenir Next"/>
                <a:ea typeface="Avenir Next"/>
                <a:cs typeface="Avenir Next"/>
              </a:rPr>
              <a:t>What gets faster, clearer, or funded.</a:t>
            </a:r>
          </a:p>
        </p:txBody>
      </p:sp>
      <p:sp>
        <p:nvSpPr>
          <p:cNvPr id="17" name="The ask"/>
          <p:cNvSpPr/>
          <p:nvPr/>
        </p:nvSpPr>
        <p:spPr>
          <a:xfrm>
            <a:off x="8079232" y="3429000"/>
            <a:ext cx="3600704" cy="28620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BE9"/>
            </a:solidFill>
          </a:ln>
          <a:effectLst>
            <a:outerShdw blurRad="430000" dist="70000" dir="2700000" algn="tl" rotWithShape="0">
              <a:srgbClr val="0B3A5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5536" y="3621024"/>
            <a:ext cx="3308096" cy="365760"/>
          </a:xfrm>
          <a:prstGeom prst="rect">
            <a:avLst/>
          </a:prstGeom>
          <a:noFill/>
        </p:spPr>
        <p:txBody>
          <a:bodyPr wrap="square" lIns="73152" rIns="54864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3A54"/>
                </a:solidFill>
                <a:latin typeface="Avenir Next"/>
                <a:ea typeface="Avenir Next"/>
                <a:cs typeface="Avenir Next"/>
              </a:rPr>
              <a:t>The 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5536" y="4078224"/>
            <a:ext cx="3308096" cy="1965960"/>
          </a:xfrm>
          <a:prstGeom prst="rect">
            <a:avLst/>
          </a:prstGeom>
          <a:noFill/>
        </p:spPr>
        <p:txBody>
          <a:bodyPr wrap="square" lIns="73152" rIns="54864" t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5C7886"/>
                </a:solidFill>
                <a:latin typeface="Avenir Next"/>
                <a:ea typeface="Avenir Next"/>
                <a:cs typeface="Avenir Next"/>
              </a:rPr>
              <a:t>What you want from the room.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064" y="6510528"/>
            <a:ext cx="11167872" cy="9144"/>
          </a:xfrm>
          <a:prstGeom prst="rect">
            <a:avLst/>
          </a:prstGeom>
          <a:solidFill>
            <a:srgbClr val="D3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7886"/>
                </a:solidFill>
                <a:latin typeface="Avenir Next"/>
                <a:ea typeface="Avenir Next"/>
                <a:cs typeface="Avenir Next"/>
              </a:rPr>
              <a:t>Ocean Opportunity Radar   ·   A’Pelago  ×  Redstone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91216" y="6547104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 spc="80">
                <a:solidFill>
                  <a:srgbClr val="0E8A90"/>
                </a:solidFill>
                <a:latin typeface="Avenir Next"/>
                <a:ea typeface="Avenir Next"/>
                <a:cs typeface="Avenir Next"/>
              </a:rPr>
              <a:t>05  / 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407664" y="713232"/>
            <a:ext cx="5376672" cy="24305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560000" dist="100000" dir="2700000" algn="tl" rotWithShape="0">
              <a:srgbClr val="0B3A54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8560" y="932688"/>
            <a:ext cx="4754880" cy="19916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0160" y="3491243"/>
            <a:ext cx="9631680" cy="1325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Thank you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2200" b="0" i="1">
                <a:solidFill>
                  <a:srgbClr val="D7F0EE"/>
                </a:solidFill>
                <a:latin typeface="Avenir Next"/>
                <a:ea typeface="Avenir Next"/>
                <a:cs typeface="Avenir Next"/>
              </a:rPr>
              <a:t>for watching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91216" y="6510528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 spc="80">
                <a:solidFill>
                  <a:srgbClr val="D7F0EE"/>
                </a:solidFill>
                <a:latin typeface="Avenir Next"/>
                <a:ea typeface="Avenir Next"/>
                <a:cs typeface="Avenir Next"/>
              </a:rPr>
              <a:t>06  / 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Ocean Opportunity Radar</dc:title>
  <dc:subject>Pitch deck template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A’Pelago × Redstone</cp:category>
</cp:coreProperties>
</file>